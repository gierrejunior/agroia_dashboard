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8" r:id="rId2"/>
    <p:sldId id="269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7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2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8400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418"/>
          </a:solidFill>
          <a:ln w="12700">
            <a:solidFill>
              <a:srgbClr val="0F2418"/>
            </a:solidFill>
            <a:prstDash val="solid"/>
          </a:ln>
        </p:spPr>
      </p:sp>
      <p:pic>
        <p:nvPicPr>
          <p:cNvPr id="3" name="Image 0" descr="/home/claude/agro_imgs/page5_img1.png"/>
          <p:cNvPicPr>
            <a:picLocks noChangeAspect="1"/>
          </p:cNvPicPr>
          <p:nvPr/>
        </p:nvPicPr>
        <p:blipFill>
          <a:blip r:embed="rId3">
            <a:alphaModFix amt="22000"/>
          </a:blip>
          <a:srcRect/>
          <a:stretch/>
        </p:blipFill>
        <p:spPr>
          <a:xfrm>
            <a:off x="4754880" y="0"/>
            <a:ext cx="438912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36576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8C4A0"/>
                </a:solidFill>
              </a:rPr>
              <a:t>FGV  ·  2026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65760" y="1234440"/>
            <a:ext cx="5943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</a:rPr>
              <a:t>Agrointeligência</a:t>
            </a:r>
            <a:endParaRPr lang="en-US" sz="5400" dirty="0"/>
          </a:p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</a:rPr>
              <a:t>Territorial</a:t>
            </a:r>
            <a:endParaRPr lang="en-US" sz="5400" dirty="0"/>
          </a:p>
        </p:txBody>
      </p:sp>
      <p:sp>
        <p:nvSpPr>
          <p:cNvPr id="7" name="Shape 4"/>
          <p:cNvSpPr/>
          <p:nvPr/>
        </p:nvSpPr>
        <p:spPr>
          <a:xfrm>
            <a:off x="365760" y="3520440"/>
            <a:ext cx="109728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365760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A8DFC0"/>
                </a:solidFill>
              </a:rPr>
              <a:t>Análise de risco e monitoramento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A8DFC0"/>
                </a:solidFill>
              </a:rPr>
              <a:t>de lavouras por satélite, em escala nacional.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365760" y="473659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7060"/>
                </a:solidFill>
              </a:rPr>
              <a:t>Aplicação em crédito e seguro rural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9F6"/>
          </a:solidFill>
          <a:ln w="12700">
            <a:solidFill>
              <a:srgbClr val="F4F9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B22"/>
                </a:solidFill>
              </a:rPr>
              <a:t>Inteligência sobre o território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7265"/>
                </a:solidFill>
              </a:rPr>
              <a:t>Integramos bases dispersas, identificamos talhões semelhantes ao alvo na vizinhança e geramos indicadores de risco a partir do comportamento histórico do entorno.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920240"/>
            <a:ext cx="2697480" cy="2971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920240"/>
            <a:ext cx="457200" cy="36576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920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542032"/>
            <a:ext cx="2057400" cy="201168"/>
          </a:xfrm>
          <a:prstGeom prst="rect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54203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Sentinel-1 / Sentinel-2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40080" y="2834640"/>
            <a:ext cx="2057400" cy="2011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83464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MapBiomas / PRODES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0080" y="3127248"/>
            <a:ext cx="2057400" cy="2011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12724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CAR / SIGEF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0080" y="3419856"/>
            <a:ext cx="2057400" cy="20116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41985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ZARC / IBGE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395020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22"/>
                </a:solidFill>
              </a:rPr>
              <a:t>Bases dispersas integradas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22452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7265"/>
                </a:solidFill>
              </a:rPr>
              <a:t>Dados públicos e proprietários consolidados em uma única camada analítica.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46120" y="1920240"/>
            <a:ext cx="2697480" cy="2971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46120" y="1920240"/>
            <a:ext cx="457200" cy="36576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1920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899916" y="2395728"/>
            <a:ext cx="292608" cy="292608"/>
          </a:xfrm>
          <a:prstGeom prst="rect">
            <a:avLst/>
          </a:prstGeom>
          <a:solidFill>
            <a:srgbClr val="C8D8C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65676" y="2395728"/>
            <a:ext cx="292608" cy="292608"/>
          </a:xfrm>
          <a:prstGeom prst="rect">
            <a:avLst/>
          </a:prstGeom>
          <a:solidFill>
            <a:srgbClr val="2D7A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31436" y="2395728"/>
            <a:ext cx="292608" cy="292608"/>
          </a:xfrm>
          <a:prstGeom prst="rect">
            <a:avLst/>
          </a:prstGeom>
          <a:solidFill>
            <a:srgbClr val="C8D8C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97196" y="2395728"/>
            <a:ext cx="292608" cy="292608"/>
          </a:xfrm>
          <a:prstGeom prst="rect">
            <a:avLst/>
          </a:prstGeom>
          <a:solidFill>
            <a:srgbClr val="2D7A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99916" y="2761488"/>
            <a:ext cx="292608" cy="292608"/>
          </a:xfrm>
          <a:prstGeom prst="rect">
            <a:avLst/>
          </a:prstGeom>
          <a:solidFill>
            <a:srgbClr val="2D7A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65676" y="2761488"/>
            <a:ext cx="292608" cy="292608"/>
          </a:xfrm>
          <a:prstGeom prst="rect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31436" y="2761488"/>
            <a:ext cx="292608" cy="292608"/>
          </a:xfrm>
          <a:prstGeom prst="rect">
            <a:avLst/>
          </a:prstGeom>
          <a:solidFill>
            <a:srgbClr val="C8D8C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97196" y="2761488"/>
            <a:ext cx="292608" cy="292608"/>
          </a:xfrm>
          <a:prstGeom prst="rect">
            <a:avLst/>
          </a:prstGeom>
          <a:solidFill>
            <a:srgbClr val="C8D8C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99916" y="3127248"/>
            <a:ext cx="292608" cy="292608"/>
          </a:xfrm>
          <a:prstGeom prst="rect">
            <a:avLst/>
          </a:prstGeom>
          <a:solidFill>
            <a:srgbClr val="C8D8C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65676" y="3127248"/>
            <a:ext cx="292608" cy="292608"/>
          </a:xfrm>
          <a:prstGeom prst="rect">
            <a:avLst/>
          </a:prstGeom>
          <a:solidFill>
            <a:srgbClr val="C8D8C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31436" y="3127248"/>
            <a:ext cx="292608" cy="292608"/>
          </a:xfrm>
          <a:prstGeom prst="rect">
            <a:avLst/>
          </a:prstGeom>
          <a:solidFill>
            <a:srgbClr val="2D7A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97196" y="3127248"/>
            <a:ext cx="292608" cy="292608"/>
          </a:xfrm>
          <a:prstGeom prst="rect">
            <a:avLst/>
          </a:prstGeom>
          <a:solidFill>
            <a:srgbClr val="C8D8C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99916" y="3493008"/>
            <a:ext cx="292608" cy="292608"/>
          </a:xfrm>
          <a:prstGeom prst="rect">
            <a:avLst/>
          </a:prstGeom>
          <a:solidFill>
            <a:srgbClr val="2D7A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65676" y="3493008"/>
            <a:ext cx="292608" cy="292608"/>
          </a:xfrm>
          <a:prstGeom prst="rect">
            <a:avLst/>
          </a:prstGeom>
          <a:solidFill>
            <a:srgbClr val="C8D8C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31436" y="3493008"/>
            <a:ext cx="292608" cy="292608"/>
          </a:xfrm>
          <a:prstGeom prst="rect">
            <a:avLst/>
          </a:prstGeom>
          <a:solidFill>
            <a:srgbClr val="C8D8C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97196" y="3493008"/>
            <a:ext cx="292608" cy="292608"/>
          </a:xfrm>
          <a:prstGeom prst="rect">
            <a:avLst/>
          </a:prstGeom>
          <a:solidFill>
            <a:srgbClr val="2D7A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83280" y="395020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22"/>
                </a:solidFill>
              </a:rPr>
              <a:t>Identificação de semelhantes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383280" y="422452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7265"/>
                </a:solidFill>
              </a:rPr>
              <a:t>Talhões da mesma cultura no entorno do alvo são identificados automaticamente.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172200" y="1920240"/>
            <a:ext cx="2697480" cy="2971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72200" y="1920240"/>
            <a:ext cx="457200" cy="36576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72200" y="1920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309360" y="254203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265"/>
                </a:solidFill>
              </a:rPr>
              <a:t>Baixo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949440" y="2587752"/>
            <a:ext cx="1600200" cy="146304"/>
          </a:xfrm>
          <a:prstGeom prst="rect">
            <a:avLst/>
          </a:prstGeom>
          <a:solidFill>
            <a:srgbClr val="E8F0EC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949440" y="2587752"/>
            <a:ext cx="1360170" cy="14630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09360" y="29260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265"/>
                </a:solidFill>
              </a:rPr>
              <a:t>Médio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949440" y="2971800"/>
            <a:ext cx="1600200" cy="146304"/>
          </a:xfrm>
          <a:prstGeom prst="rect">
            <a:avLst/>
          </a:prstGeom>
          <a:solidFill>
            <a:srgbClr val="E8F0EC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949440" y="2971800"/>
            <a:ext cx="880110" cy="14630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09360" y="331012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265"/>
                </a:solidFill>
              </a:rPr>
              <a:t>Alto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949440" y="3355848"/>
            <a:ext cx="1600200" cy="146304"/>
          </a:xfrm>
          <a:prstGeom prst="rect">
            <a:avLst/>
          </a:prstGeom>
          <a:solidFill>
            <a:srgbClr val="E8F0EC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949440" y="3355848"/>
            <a:ext cx="560070" cy="14630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9360" y="395020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22"/>
                </a:solidFill>
              </a:rPr>
              <a:t>Indicadores de risco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6309360" y="422452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7265"/>
                </a:solidFill>
              </a:rPr>
              <a:t>Análise comparativa traduzida em indicadores para subscrição e crédito.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 rot="5400000">
            <a:off x="3035808" y="3246120"/>
            <a:ext cx="182880" cy="274320"/>
          </a:xfrm>
          <a:prstGeom prst="rtTriangl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rot="5400000">
            <a:off x="5961888" y="3246120"/>
            <a:ext cx="182880" cy="274320"/>
          </a:xfrm>
          <a:prstGeom prst="rtTriangl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B22"/>
                </a:solidFill>
              </a:rPr>
              <a:t>O Problema Operacional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20040" y="8686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B22"/>
                </a:solidFill>
              </a:rPr>
              <a:t>A análise de risco em crédito e seguro rural opera sem informação direta sobre o que acontece no campo durante o ciclo produtivo.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1691640"/>
            <a:ext cx="2697480" cy="3154680"/>
          </a:xfrm>
          <a:prstGeom prst="rect">
            <a:avLst/>
          </a:prstGeom>
          <a:solidFill>
            <a:srgbClr val="3D2B1A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691640"/>
            <a:ext cx="2697480" cy="566928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7830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728216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Frequência insuficiente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84632" y="2423160"/>
            <a:ext cx="237744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CD0"/>
                </a:solidFill>
              </a:rPr>
              <a:t>MapBiomas e PRODES são anuais. O Brasil opera com 2-3 safras por ano. Defasagem pode passar de 12 meses.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172968" y="1691640"/>
            <a:ext cx="2697480" cy="3154680"/>
          </a:xfrm>
          <a:prstGeom prst="rect">
            <a:avLst/>
          </a:prstGeom>
          <a:solidFill>
            <a:srgbClr val="1A2B3D"/>
          </a:solidFill>
          <a:ln w="12700">
            <a:solidFill>
              <a:srgbClr val="3C6A8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172968" y="1691640"/>
            <a:ext cx="2697480" cy="566928"/>
          </a:xfrm>
          <a:prstGeom prst="rect">
            <a:avLst/>
          </a:prstGeom>
          <a:solidFill>
            <a:srgbClr val="3C6A8B"/>
          </a:solidFill>
          <a:ln w="12700">
            <a:solidFill>
              <a:srgbClr val="3C6A8B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2696" y="17830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21608" y="1728216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Sem identificação de cultura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337560" y="2423160"/>
            <a:ext cx="237744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CD0"/>
                </a:solidFill>
              </a:rPr>
              <a:t>Nenhuma base pública identifica cultura por talhão e safra. Decisão fica baseada apenas na declaração do produtor.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025896" y="1691640"/>
            <a:ext cx="2697480" cy="3154680"/>
          </a:xfrm>
          <a:prstGeom prst="rect">
            <a:avLst/>
          </a:prstGeom>
          <a:solidFill>
            <a:srgbClr val="2B1A1A"/>
          </a:solidFill>
          <a:ln w="12700">
            <a:solidFill>
              <a:srgbClr val="8B3C3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025896" y="1691640"/>
            <a:ext cx="2697480" cy="566928"/>
          </a:xfrm>
          <a:prstGeom prst="rect">
            <a:avLst/>
          </a:prstGeom>
          <a:solidFill>
            <a:srgbClr val="8B3C3C"/>
          </a:solidFill>
          <a:ln w="12700">
            <a:solidFill>
              <a:srgbClr val="8B3C3C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5624" y="17830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74536" y="1728216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Carteira inviável em escala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190488" y="2423160"/>
            <a:ext cx="237744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CD0"/>
                </a:solidFill>
              </a:rPr>
              <a:t>A alternativa atual é análise pontual por demanda. Não escala para carteiras com centenas ou milhares de operações.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B22"/>
                </a:solidFill>
              </a:rPr>
              <a:t>Dois problemas sem solução escalável hoje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20624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4206240" cy="50292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78408"/>
            <a:ext cx="397764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  —  Análise prévia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2763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22"/>
                </a:solidFill>
              </a:rPr>
              <a:t>Antes da concessão, não há forma escalável de verificar: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22"/>
                </a:solidFill>
              </a:rPr>
              <a:t>→  Histórico de cultivo do talhão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22"/>
                </a:solidFill>
              </a:rPr>
              <a:t>→  Desenvolvimento atual vs. padrão regional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22"/>
                </a:solidFill>
              </a:rPr>
              <a:t>→  Aderência ao calendário ZARC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520440"/>
            <a:ext cx="3931920" cy="18288"/>
          </a:xfrm>
          <a:prstGeom prst="rect">
            <a:avLst/>
          </a:prstGeom>
          <a:solidFill>
            <a:srgbClr val="E8F0EC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639312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7265"/>
                </a:solidFill>
              </a:rPr>
              <a:t>Decisão se apoia no histórico financeiro e em vistorias pontuais — sem referência espacial sistemática.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17720" y="960120"/>
            <a:ext cx="420624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960120"/>
            <a:ext cx="4206240" cy="502920"/>
          </a:xfrm>
          <a:prstGeom prst="rect">
            <a:avLst/>
          </a:prstGeom>
          <a:solidFill>
            <a:srgbClr val="2D7A4F"/>
          </a:solidFill>
          <a:ln w="12700">
            <a:solidFill>
              <a:srgbClr val="2D7A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978408"/>
            <a:ext cx="397764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  —  Monitoramento da carteira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0" y="162763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22"/>
                </a:solidFill>
              </a:rPr>
              <a:t>Durante o ciclo, sinais de problema não chegam a tempo: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2057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22"/>
                </a:solidFill>
              </a:rPr>
              <a:t>→  Sinistros e inadimplência identificados após o fato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2468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22"/>
                </a:solidFill>
              </a:rPr>
              <a:t>→  Análise sob demanda não cobre carteira inteira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28803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22"/>
                </a:solidFill>
              </a:rPr>
              <a:t>→  Não há ferramenta de alertas sistemáticos por talhão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3520440"/>
            <a:ext cx="3931920" cy="18288"/>
          </a:xfrm>
          <a:prstGeom prst="rect">
            <a:avLst/>
          </a:prstGeom>
          <a:solidFill>
            <a:srgbClr val="E8F0EC"/>
          </a:solidFill>
          <a:ln w="12700">
            <a:solidFill>
              <a:srgbClr val="E8F0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3639312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7265"/>
                </a:solidFill>
              </a:rPr>
              <a:t>Sem acompanhamento sistemático, anomalias espectrais e desvios regionais ficam invisíveis até a colheita.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47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Módulo Agrícola — Arquitetura do Sistema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84124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DFC0"/>
                </a:solidFill>
              </a:rPr>
              <a:t>Pipeline automatizado, paralelizável por município, com operação contínua em escala nacional.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554480"/>
            <a:ext cx="5029200" cy="640080"/>
          </a:xfrm>
          <a:prstGeom prst="rect">
            <a:avLst/>
          </a:prstGeom>
          <a:solidFill>
            <a:srgbClr val="1A5235"/>
          </a:solidFill>
          <a:ln w="6350">
            <a:solidFill>
              <a:srgbClr val="2D8A56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6916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6276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Aquisição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18745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C4A0"/>
                </a:solidFill>
              </a:rPr>
              <a:t>Sentinel-1 SAR + Sentinel-2 — 10m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74320" y="2331720"/>
            <a:ext cx="5029200" cy="640080"/>
          </a:xfrm>
          <a:prstGeom prst="rect">
            <a:avLst/>
          </a:prstGeom>
          <a:solidFill>
            <a:srgbClr val="1A5235"/>
          </a:solidFill>
          <a:ln w="6350">
            <a:solidFill>
              <a:srgbClr val="2D8A56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46888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24048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Segmentação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914400" y="265176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C4A0"/>
                </a:solidFill>
              </a:rPr>
              <a:t>SAM (ViT-H) por mosaico temporal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274320" y="3108960"/>
            <a:ext cx="5029200" cy="640080"/>
          </a:xfrm>
          <a:prstGeom prst="rect">
            <a:avLst/>
          </a:prstGeom>
          <a:solidFill>
            <a:srgbClr val="1A5235"/>
          </a:solidFill>
          <a:ln w="6350">
            <a:solidFill>
              <a:srgbClr val="2D8A56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24612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14400" y="31821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Classificação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914400" y="34290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C4A0"/>
                </a:solidFill>
              </a:rPr>
              <a:t>MSN auto-supervisionada — por talhão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274320" y="3886200"/>
            <a:ext cx="5029200" cy="640080"/>
          </a:xfrm>
          <a:prstGeom prst="rect">
            <a:avLst/>
          </a:prstGeom>
          <a:solidFill>
            <a:srgbClr val="1A5235"/>
          </a:solidFill>
          <a:ln w="6350">
            <a:solidFill>
              <a:srgbClr val="2D8A56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402336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14400" y="39593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Índices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914400" y="4206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C4A0"/>
                </a:solidFill>
              </a:rPr>
              <a:t>15 IVs via BDC-WTSS (INPE)</a:t>
            </a:r>
            <a:endParaRPr lang="en-US" sz="1150" dirty="0"/>
          </a:p>
        </p:txBody>
      </p:sp>
      <p:pic>
        <p:nvPicPr>
          <p:cNvPr id="21" name="Image 4" descr="/home/claude/agro_imgs/page7_img1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440680" y="777240"/>
            <a:ext cx="356616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B22"/>
                </a:solidFill>
              </a:rPr>
              <a:t>Capacidade 1 — Classificação de Cultura por Talhão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22"/>
                </a:solidFill>
              </a:rPr>
              <a:t>Delimitação automática de talhões (SAM) e classificação por safra (MSN) — soja, milho, algodão.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4114800" cy="86868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46304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DFC0"/>
                </a:solidFill>
              </a:rPr>
              <a:t>Insumo fundamental: sem identificar a cultura plantada por talhão, não há comparação espectral válida com a região.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74320" y="251460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22"/>
                </a:solidFill>
              </a:rPr>
              <a:t>Acurácia geral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277063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7265"/>
                </a:solidFill>
              </a:rPr>
              <a:t>MapBiomas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325880" y="2779776"/>
            <a:ext cx="1732056" cy="182880"/>
          </a:xfrm>
          <a:prstGeom prst="rect">
            <a:avLst/>
          </a:prstGeom>
          <a:solidFill>
            <a:srgbClr val="BDC3C7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3656" y="2779776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F8C8D"/>
                </a:solidFill>
              </a:rPr>
              <a:t>86.1%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299923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7265"/>
                </a:solidFill>
              </a:rPr>
              <a:t>Agro IA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325880" y="3008376"/>
            <a:ext cx="1595262" cy="182880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66862" y="3008376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7A4F"/>
                </a:solidFill>
              </a:rPr>
              <a:t>79.3%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" y="338328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22"/>
                </a:solidFill>
              </a:rPr>
              <a:t>Acurácia média por classe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" y="363931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7265"/>
                </a:solidFill>
              </a:rPr>
              <a:t>MapBiomas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325880" y="3648456"/>
            <a:ext cx="1152693" cy="182880"/>
          </a:xfrm>
          <a:prstGeom prst="rect">
            <a:avLst/>
          </a:prstGeom>
          <a:solidFill>
            <a:srgbClr val="BDC3C7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24293" y="3648456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F8C8D"/>
                </a:solidFill>
              </a:rPr>
              <a:t>57.3%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" y="386791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7265"/>
                </a:solidFill>
              </a:rPr>
              <a:t>Agro IA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325880" y="3877056"/>
            <a:ext cx="1460480" cy="182880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32080" y="3877056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7A4F"/>
                </a:solidFill>
              </a:rPr>
              <a:t>72.6%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" y="44988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D7A4F"/>
                </a:solidFill>
              </a:rPr>
              <a:t>+27% na acurácia por classe — indicador-chave para risco diversificado.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" y="480060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7265"/>
                </a:solidFill>
              </a:rPr>
              <a:t>Validação contra dados de campo do INPE — Campo Verde/MT</a:t>
            </a:r>
            <a:endParaRPr lang="en-US" sz="900" dirty="0"/>
          </a:p>
        </p:txBody>
      </p:sp>
      <p:pic>
        <p:nvPicPr>
          <p:cNvPr id="23" name="Image 0" descr="/home/claude/agro_imgs/page7_img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26280" y="777240"/>
            <a:ext cx="4480560" cy="18288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4526280" y="2578608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7265"/>
                </a:solidFill>
              </a:rPr>
              <a:t>Matrizes de confusão — MapBiomas vs. INPE (esq.) · Agro IA vs. INPE (dir.)</a:t>
            </a:r>
            <a:endParaRPr lang="en-US" sz="900" dirty="0"/>
          </a:p>
        </p:txBody>
      </p:sp>
      <p:pic>
        <p:nvPicPr>
          <p:cNvPr id="25" name="Image 1" descr="/home/claude/agro_imgs/page8_img1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26280" y="2834640"/>
            <a:ext cx="4480560" cy="210312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4526280" y="4910328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7265"/>
                </a:solidFill>
              </a:rPr>
              <a:t>Classificação por talhão — INPE (ref.), Agro IA, MapBiomas — Campo Verde/MT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B22"/>
                </a:solidFill>
              </a:rPr>
              <a:t>Capacidade 2 — Análise Prévia do Talhão Proponente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103120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686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1A2B22"/>
                </a:solidFill>
              </a:rPr>
              <a:t>ENTRADAS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234440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1207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22"/>
                </a:solidFill>
              </a:rPr>
              <a:t>Polígono do talhão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00200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" y="15727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22"/>
                </a:solidFill>
              </a:rPr>
              <a:t>Cultura e ciclo (dias)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274320" y="2103120"/>
            <a:ext cx="2103120" cy="274320"/>
          </a:xfrm>
          <a:prstGeom prst="rect">
            <a:avLst/>
          </a:prstGeom>
          <a:solidFill>
            <a:srgbClr val="2D7A4F"/>
          </a:solidFill>
          <a:ln w="12700">
            <a:solidFill>
              <a:srgbClr val="2D7A4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74320" y="21031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SAÍDAS</a:t>
            </a:r>
            <a:endParaRPr lang="en-US" sz="9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2468880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66928" y="2441448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22"/>
                </a:solidFill>
              </a:rPr>
              <a:t>Histórico de cultivo</a:t>
            </a:r>
            <a:endParaRPr lang="en-US" sz="12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2834640"/>
            <a:ext cx="219456" cy="2194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66928" y="2807208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22"/>
                </a:solidFill>
              </a:rPr>
              <a:t>Índice comparativo regional</a:t>
            </a:r>
            <a:endParaRPr lang="en-US" sz="12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200400"/>
            <a:ext cx="219456" cy="21945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66928" y="3172968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22"/>
                </a:solidFill>
              </a:rPr>
              <a:t>Anomalia vs. média municipal</a:t>
            </a:r>
            <a:endParaRPr lang="en-US" sz="12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566160"/>
            <a:ext cx="219456" cy="21945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66928" y="3538728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22"/>
                </a:solidFill>
              </a:rPr>
              <a:t>Aderência ao ZARC</a:t>
            </a:r>
            <a:endParaRPr lang="en-US" sz="1200" dirty="0"/>
          </a:p>
        </p:txBody>
      </p:sp>
      <p:sp>
        <p:nvSpPr>
          <p:cNvPr id="20" name="Shape 12"/>
          <p:cNvSpPr/>
          <p:nvPr/>
        </p:nvSpPr>
        <p:spPr>
          <a:xfrm>
            <a:off x="274320" y="4114800"/>
            <a:ext cx="2103120" cy="640080"/>
          </a:xfrm>
          <a:prstGeom prst="rect">
            <a:avLst/>
          </a:prstGeom>
          <a:solidFill>
            <a:srgbClr val="E8F0EC"/>
          </a:solidFill>
          <a:ln w="12700">
            <a:solidFill>
              <a:srgbClr val="C8D8CC"/>
            </a:solidFill>
            <a:prstDash val="solid"/>
          </a:ln>
        </p:spPr>
      </p:sp>
      <p:sp>
        <p:nvSpPr>
          <p:cNvPr id="21" name="Text 13"/>
          <p:cNvSpPr/>
          <p:nvPr/>
        </p:nvSpPr>
        <p:spPr>
          <a:xfrm>
            <a:off x="384048" y="4160520"/>
            <a:ext cx="1883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265"/>
                </a:solidFill>
              </a:rPr>
              <a:t>Recortes configuráveis: município, raio em km, vizinhança. Imagens a cada 16 dias.</a:t>
            </a:r>
            <a:endParaRPr lang="en-US" sz="1000" dirty="0"/>
          </a:p>
        </p:txBody>
      </p:sp>
      <p:pic>
        <p:nvPicPr>
          <p:cNvPr id="22" name="Image 6" descr="/home/claude/agro_imgs/page11_img1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514600" y="777240"/>
            <a:ext cx="6492240" cy="416052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2514600" y="4919472"/>
            <a:ext cx="6492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7265"/>
                </a:solidFill>
              </a:rPr>
              <a:t>Talhão (FID 35) vs. envelope municipal — Campo Verde/MT. Anomalias positivas (verde) e negativas (rosa).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B22"/>
                </a:solidFill>
              </a:rPr>
              <a:t>Capacidade 3 — Monitoramento Contínuo e Alertas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841248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22"/>
                </a:solidFill>
              </a:rPr>
              <a:t>Acompanhamento espectral por talhão durante todo o ciclo. Desvios geram alertas parametrizáveis.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411480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508760"/>
            <a:ext cx="73152" cy="960120"/>
          </a:xfrm>
          <a:prstGeom prst="rect">
            <a:avLst/>
          </a:prstGeom>
          <a:solidFill>
            <a:srgbClr val="2D7A4F"/>
          </a:solidFill>
          <a:ln w="12700">
            <a:solidFill>
              <a:srgbClr val="2D7A4F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78308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64592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22"/>
                </a:solidFill>
              </a:rPr>
              <a:t>Frequência de 16 dias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60120" y="196596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7265"/>
                </a:solidFill>
              </a:rPr>
              <a:t>Revisita Sentinel — independente de nuvens (SAR).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74320" y="2587752"/>
            <a:ext cx="411480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4320" y="2587752"/>
            <a:ext cx="73152" cy="960120"/>
          </a:xfrm>
          <a:prstGeom prst="rect">
            <a:avLst/>
          </a:prstGeom>
          <a:solidFill>
            <a:srgbClr val="2D7A4F"/>
          </a:solidFill>
          <a:ln w="12700">
            <a:solidFill>
              <a:srgbClr val="2D7A4F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2862072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60120" y="272491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22"/>
                </a:solidFill>
              </a:rPr>
              <a:t>Alertas parametrizáveis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960120" y="3044952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7265"/>
                </a:solidFill>
              </a:rPr>
              <a:t>Thresholds definidos com o parceiro. Por talhão, município ou região.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274320" y="3666744"/>
            <a:ext cx="411480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74320" y="3666744"/>
            <a:ext cx="73152" cy="960120"/>
          </a:xfrm>
          <a:prstGeom prst="rect">
            <a:avLst/>
          </a:prstGeom>
          <a:solidFill>
            <a:srgbClr val="2D7A4F"/>
          </a:solidFill>
          <a:ln w="12700">
            <a:solidFill>
              <a:srgbClr val="2D7A4F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3941064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60120" y="3803904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22"/>
                </a:solidFill>
              </a:rPr>
              <a:t>Análise regional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960120" y="4123944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7265"/>
                </a:solidFill>
              </a:rPr>
              <a:t>Comportamento agregado de regiões — risco sistêmico.</a:t>
            </a:r>
            <a:endParaRPr lang="en-US" sz="1150" dirty="0"/>
          </a:p>
        </p:txBody>
      </p:sp>
      <p:pic>
        <p:nvPicPr>
          <p:cNvPr id="20" name="Image 3" descr="/home/claude/agro_imgs/page10_img1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526280" y="777240"/>
            <a:ext cx="4480560" cy="334670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526280" y="4172061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7265"/>
                </a:solidFill>
              </a:rPr>
              <a:t>Série NDVI suavizada com SOS, POS e EOS — Campo Verde/MT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4526280" y="4919472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7265"/>
                </a:solidFill>
              </a:rPr>
              <a:t>Envelope temporal municipal com anomalias por ciclo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B22"/>
                </a:solidFill>
              </a:rPr>
              <a:t>Capacidade 4 — Fenologia e Cruzamento com ZARC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841248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B22"/>
                </a:solidFill>
              </a:rPr>
              <a:t>Detecção automática de eventos fenológicos (SOS, POS, EOS) e validação contra as janelas de plantio do ZARC/MAPA. Identifica talhões plantados fora do calendário recomendado.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74320" y="1993392"/>
            <a:ext cx="4114800" cy="777240"/>
          </a:xfrm>
          <a:prstGeom prst="rect">
            <a:avLst/>
          </a:prstGeom>
          <a:solidFill>
            <a:srgbClr val="1A4731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2084832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A623"/>
                </a:solidFill>
              </a:rPr>
              <a:t>439 mil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874520" y="2157984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DFC0"/>
                </a:solidFill>
              </a:rPr>
              <a:t>ciclos fenológicos detectados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2907792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" y="2999232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7A4F"/>
                </a:solidFill>
              </a:rPr>
              <a:t>691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874520" y="3072384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7265"/>
                </a:solidFill>
              </a:rPr>
              <a:t>municípios cobertos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" y="3822192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4048" y="3913632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7A4F"/>
                </a:solidFill>
              </a:rPr>
              <a:t>2,9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874520" y="3986784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7265"/>
                </a:solidFill>
              </a:rPr>
              <a:t>ciclos médios por talhão</a:t>
            </a:r>
            <a:endParaRPr lang="en-US" sz="1150" dirty="0"/>
          </a:p>
        </p:txBody>
      </p:sp>
      <p:pic>
        <p:nvPicPr>
          <p:cNvPr id="14" name="Image 0" descr="/home/claude/agro_imgs/page14_img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26280" y="868680"/>
            <a:ext cx="4480560" cy="40233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526280" y="4864608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7265"/>
                </a:solidFill>
              </a:rPr>
              <a:t>Distribuição dos eventos SOS vs. janelas ZARC por cultura — Campo Verde/MT (Soja: 65,5% dentro da janela)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gro_imgs/page5_img1.png"/>
          <p:cNvPicPr>
            <a:picLocks noChangeAspect="1"/>
          </p:cNvPicPr>
          <p:nvPr/>
        </p:nvPicPr>
        <p:blipFill>
          <a:blip r:embed="rId3">
            <a:alphaModFix amt="15000"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286000" y="1645920"/>
            <a:ext cx="4572000" cy="54864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Módulo Florestal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1371600" y="278892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8C4A0"/>
                </a:solidFill>
              </a:rPr>
              <a:t>Monitoramento de Conformidade Ambiental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2286000" y="3383280"/>
            <a:ext cx="4572000" cy="54864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0" y="3547872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57060"/>
                </a:solidFill>
              </a:rPr>
              <a:t>Produto independente do Módulo Agrícola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47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Módulo Florestal — Três produtos independentes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841248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8DFC0"/>
                </a:solidFill>
              </a:rPr>
              <a:t>Monitoramento intranual (3-4 meses). PRODES é anual — capta apenas floresta primária acima de 1ha.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2788920" cy="3520440"/>
          </a:xfrm>
          <a:prstGeom prst="rect">
            <a:avLst/>
          </a:prstGeom>
          <a:solidFill>
            <a:srgbClr val="1A5235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417320"/>
            <a:ext cx="2788920" cy="502920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435608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4731"/>
                </a:solidFill>
              </a:rPr>
              <a:t>01</a:t>
            </a:r>
            <a:endParaRPr lang="en-US" sz="17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17904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444752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731"/>
                </a:solidFill>
              </a:rPr>
              <a:t>Passivo Ambiental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02336" y="2057400"/>
            <a:ext cx="254203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CD0"/>
                </a:solidFill>
              </a:rPr>
              <a:t>Vegetação nativa em APP e RL do imóvel (CAR). Identifica déficit conforme o Código Florestal.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74320" y="4206240"/>
            <a:ext cx="2788920" cy="36576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2336" y="42976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C4A0"/>
                </a:solidFill>
              </a:rPr>
              <a:t>Condição para crédito rural (CMN 4.945/2021)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18688" y="1417320"/>
            <a:ext cx="2788920" cy="3520440"/>
          </a:xfrm>
          <a:prstGeom prst="rect">
            <a:avLst/>
          </a:prstGeom>
          <a:solidFill>
            <a:srgbClr val="1A5235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18688" y="1417320"/>
            <a:ext cx="2788920" cy="502920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28416" y="1435608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4731"/>
                </a:solidFill>
              </a:rPr>
              <a:t>02</a:t>
            </a:r>
            <a:endParaRPr lang="en-US" sz="17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7328" y="1517904"/>
            <a:ext cx="347472" cy="34747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178808" y="1444752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731"/>
                </a:solidFill>
              </a:rPr>
              <a:t>Desmatamento Recente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346704" y="2057400"/>
            <a:ext cx="254203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CD0"/>
                </a:solidFill>
              </a:rPr>
              <a:t>Supressão nos últimos 3-4 meses dentro do polígono. Frequência intranual não disponível em bases oficiais.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3218688" y="4206240"/>
            <a:ext cx="2788920" cy="36576"/>
          </a:xfrm>
          <a:prstGeom prst="rect">
            <a:avLst/>
          </a:prstGeom>
          <a:solidFill>
            <a:srgbClr val="4CAF7D"/>
          </a:solidFill>
          <a:ln w="12700">
            <a:solidFill>
              <a:srgbClr val="4CAF7D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346704" y="42976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C4A0"/>
                </a:solidFill>
              </a:rPr>
              <a:t>Due diligence e monitoramento pós-concessão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6163056" y="1417320"/>
            <a:ext cx="2788920" cy="3520440"/>
          </a:xfrm>
          <a:prstGeom prst="rect">
            <a:avLst/>
          </a:prstGeom>
          <a:solidFill>
            <a:srgbClr val="1A5235"/>
          </a:solidFill>
          <a:ln w="12700">
            <a:solidFill>
              <a:srgbClr val="3A8F5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163056" y="1417320"/>
            <a:ext cx="2788920" cy="502920"/>
          </a:xfrm>
          <a:prstGeom prst="rect">
            <a:avLst/>
          </a:prstGeom>
          <a:solidFill>
            <a:srgbClr val="3A8F5A"/>
          </a:solidFill>
          <a:ln w="12700">
            <a:solidFill>
              <a:srgbClr val="3A8F5A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272784" y="1435608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4731"/>
                </a:solidFill>
              </a:rPr>
              <a:t>03</a:t>
            </a:r>
            <a:endParaRPr lang="en-US" sz="17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1696" y="1517904"/>
            <a:ext cx="347472" cy="34747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123176" y="1444752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731"/>
                </a:solidFill>
              </a:rPr>
              <a:t>Índice de Pressão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6291072" y="2057400"/>
            <a:ext cx="254203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CD0"/>
                </a:solidFill>
              </a:rPr>
              <a:t>Risco de desmatamento futuro com base na vizinhança. Estratifica imóveis em regiões de alta pressão.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6163056" y="4206240"/>
            <a:ext cx="2788920" cy="36576"/>
          </a:xfrm>
          <a:prstGeom prst="rect">
            <a:avLst/>
          </a:prstGeom>
          <a:solidFill>
            <a:srgbClr val="3A8F5A"/>
          </a:solidFill>
          <a:ln w="12700">
            <a:solidFill>
              <a:srgbClr val="3A8F5A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291072" y="42976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C4A0"/>
                </a:solidFill>
              </a:rPr>
              <a:t>Estratificação de risco em portfólios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274320" y="4983480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7A5A"/>
                </a:solidFill>
              </a:rPr>
              <a:t>Ilustrações a inserir diretamente no PPTX gerado.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22"/>
                </a:solidFill>
              </a:rPr>
              <a:t>Agenda de Desenvolvimento e Parceria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84124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7265"/>
                </a:solidFill>
              </a:rPr>
              <a:t>Desenvolvimentos para operacionalização. Parte depende de definição conjunta com o parceiro.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85953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71600"/>
            <a:ext cx="640080" cy="77724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37160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148132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22"/>
                </a:solidFill>
              </a:rPr>
              <a:t>Definição de thresholds de alerta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76479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265"/>
                </a:solidFill>
              </a:rPr>
              <a:t>Calibração dos parâmetros de corte em conjunto com especialistas do parceiro.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589520" y="1627632"/>
            <a:ext cx="1188720" cy="256032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0" y="162763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Em desenvolvimento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240280"/>
            <a:ext cx="85953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240280"/>
            <a:ext cx="640080" cy="777240"/>
          </a:xfrm>
          <a:prstGeom prst="rect">
            <a:avLst/>
          </a:prstGeom>
          <a:solidFill>
            <a:srgbClr val="2D7A4F"/>
          </a:solidFill>
          <a:ln w="12700">
            <a:solidFill>
              <a:srgbClr val="2D7A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24028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235000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22"/>
                </a:solidFill>
              </a:rPr>
              <a:t>Expansão de culturas monitoradas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263347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265"/>
                </a:solidFill>
              </a:rPr>
              <a:t>Café, cana, feijão e outras culturas de interesse para a carteira.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589520" y="2496312"/>
            <a:ext cx="1188720" cy="256032"/>
          </a:xfrm>
          <a:prstGeom prst="rect">
            <a:avLst/>
          </a:prstGeom>
          <a:solidFill>
            <a:srgbClr val="2D7A4F"/>
          </a:solidFill>
          <a:ln w="12700">
            <a:solidFill>
              <a:srgbClr val="2D7A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0" y="249631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Roadmap 2026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108960"/>
            <a:ext cx="85953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108960"/>
            <a:ext cx="640080" cy="77724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10896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274320" y="3977640"/>
            <a:ext cx="85953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977640"/>
            <a:ext cx="640080" cy="777240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397764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5840" y="408736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22"/>
                </a:solidFill>
              </a:rPr>
              <a:t>Projeto piloto com carteira real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05840" y="437083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265"/>
                </a:solidFill>
              </a:rPr>
              <a:t>Validação dos indicadores com amostra da carteira — alertas vs. eventos observados.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589520" y="4233672"/>
            <a:ext cx="1188720" cy="256032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0" y="423367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A definir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952</Words>
  <Application>Microsoft Macintosh PowerPoint</Application>
  <PresentationFormat>On-screen Show (16:9)</PresentationFormat>
  <Paragraphs>147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Eduardo Pavao</cp:lastModifiedBy>
  <cp:revision>3</cp:revision>
  <dcterms:created xsi:type="dcterms:W3CDTF">2026-05-12T21:39:04Z</dcterms:created>
  <dcterms:modified xsi:type="dcterms:W3CDTF">2026-05-12T22:40:22Z</dcterms:modified>
</cp:coreProperties>
</file>